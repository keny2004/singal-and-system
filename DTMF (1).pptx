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sldIdLst>
    <p:sldId id="256" r:id="rId2"/>
    <p:sldId id="257" r:id="rId3"/>
    <p:sldId id="258" r:id="rId4"/>
    <p:sldId id="259" r:id="rId5"/>
    <p:sldId id="261" r:id="rId6"/>
    <p:sldId id="262" r:id="rId7"/>
    <p:sldId id="263" r:id="rId8"/>
    <p:sldId id="264" r:id="rId9"/>
    <p:sldId id="269" r:id="rId10"/>
    <p:sldId id="267" r:id="rId11"/>
    <p:sldId id="271" r:id="rId12"/>
    <p:sldId id="268" r:id="rId13"/>
    <p:sldId id="272" r:id="rId14"/>
    <p:sldId id="273" r:id="rId15"/>
    <p:sldId id="274" r:id="rId16"/>
    <p:sldId id="277" r:id="rId17"/>
    <p:sldId id="275" r:id="rId18"/>
  </p:sldIdLst>
  <p:sldSz cx="9144000" cy="6858000" type="screen4x3"/>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7" d="100"/>
          <a:sy n="107" d="100"/>
        </p:scale>
        <p:origin x="1734" y="9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920D2B6-E176-40BA-9FA4-B0894CF9A921}" type="datetimeFigureOut">
              <a:rPr lang="zh-TW" altLang="en-US" smtClean="0"/>
              <a:t>2025/11/26</a:t>
            </a:fld>
            <a:endParaRPr lang="zh-TW" altLang="en-US"/>
          </a:p>
        </p:txBody>
      </p:sp>
      <p:sp>
        <p:nvSpPr>
          <p:cNvPr id="4" name="投影片影像版面配置區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0B3460E-6A9A-43DB-9A90-01675B236B8E}" type="slidenum">
              <a:rPr lang="zh-TW" altLang="en-US" smtClean="0"/>
              <a:t>‹#›</a:t>
            </a:fld>
            <a:endParaRPr lang="zh-TW" altLang="en-US"/>
          </a:p>
        </p:txBody>
      </p:sp>
    </p:spTree>
    <p:extLst>
      <p:ext uri="{BB962C8B-B14F-4D97-AF65-F5344CB8AC3E}">
        <p14:creationId xmlns:p14="http://schemas.microsoft.com/office/powerpoint/2010/main" val="42560349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電話按鍵板可產生雙音多頻 </a:t>
            </a:r>
            <a:r>
              <a:rPr lang="en-US" altLang="zh-TW" dirty="0"/>
              <a:t>(DTMF) </a:t>
            </a:r>
            <a:r>
              <a:rPr lang="zh-TW" altLang="en-US" dirty="0"/>
              <a:t>訊號來撥打電話。當按下任一鍵時，會產生對應行和列頻率的正弦波並相加，產生雙音。</a:t>
            </a:r>
          </a:p>
        </p:txBody>
      </p:sp>
      <p:sp>
        <p:nvSpPr>
          <p:cNvPr id="4" name="投影片編號版面配置區 3"/>
          <p:cNvSpPr>
            <a:spLocks noGrp="1"/>
          </p:cNvSpPr>
          <p:nvPr>
            <p:ph type="sldNum" sz="quarter" idx="5"/>
          </p:nvPr>
        </p:nvSpPr>
        <p:spPr/>
        <p:txBody>
          <a:bodyPr/>
          <a:lstStyle/>
          <a:p>
            <a:fld id="{30B3460E-6A9A-43DB-9A90-01675B236B8E}" type="slidenum">
              <a:rPr lang="zh-TW" altLang="en-US" smtClean="0"/>
              <a:t>2</a:t>
            </a:fld>
            <a:endParaRPr lang="zh-TW" altLang="en-US"/>
          </a:p>
        </p:txBody>
      </p:sp>
    </p:spTree>
    <p:extLst>
      <p:ext uri="{BB962C8B-B14F-4D97-AF65-F5344CB8AC3E}">
        <p14:creationId xmlns:p14="http://schemas.microsoft.com/office/powerpoint/2010/main" val="38530953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用於按鍵式撥號的擴充 </a:t>
            </a:r>
            <a:r>
              <a:rPr lang="en-US" altLang="zh-TW" dirty="0"/>
              <a:t>DTMF </a:t>
            </a:r>
            <a:r>
              <a:rPr lang="zh-TW" altLang="en-US" dirty="0"/>
              <a:t>編碼表。 當按下任意鍵時，會產生對應列和行的音調並進行求和。 鍵 </a:t>
            </a:r>
            <a:r>
              <a:rPr lang="en-US" altLang="zh-TW" dirty="0"/>
              <a:t>A-D</a:t>
            </a:r>
            <a:r>
              <a:rPr lang="zh-TW" altLang="en-US" dirty="0"/>
              <a:t>（第四列）在商用和家用電話機上實現，但也用於一些軍事和其他信令應用。</a:t>
            </a:r>
          </a:p>
        </p:txBody>
      </p:sp>
      <p:sp>
        <p:nvSpPr>
          <p:cNvPr id="4" name="投影片編號版面配置區 3"/>
          <p:cNvSpPr>
            <a:spLocks noGrp="1"/>
          </p:cNvSpPr>
          <p:nvPr>
            <p:ph type="sldNum" sz="quarter" idx="5"/>
          </p:nvPr>
        </p:nvSpPr>
        <p:spPr/>
        <p:txBody>
          <a:bodyPr/>
          <a:lstStyle/>
          <a:p>
            <a:fld id="{30B3460E-6A9A-43DB-9A90-01675B236B8E}" type="slidenum">
              <a:rPr lang="zh-TW" altLang="en-US" smtClean="0"/>
              <a:t>3</a:t>
            </a:fld>
            <a:endParaRPr lang="zh-TW" altLang="en-US"/>
          </a:p>
        </p:txBody>
      </p:sp>
    </p:spTree>
    <p:extLst>
      <p:ext uri="{BB962C8B-B14F-4D97-AF65-F5344CB8AC3E}">
        <p14:creationId xmlns:p14="http://schemas.microsoft.com/office/powerpoint/2010/main" val="38445367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將時間訊號分為表示各個按鍵的短時間段。過濾各個片段以提取可能的頻率分量。 帶通濾波器可用於隔離正弦分量。</a:t>
            </a:r>
          </a:p>
        </p:txBody>
      </p:sp>
      <p:sp>
        <p:nvSpPr>
          <p:cNvPr id="4" name="投影片編號版面配置區 3"/>
          <p:cNvSpPr>
            <a:spLocks noGrp="1"/>
          </p:cNvSpPr>
          <p:nvPr>
            <p:ph type="sldNum" sz="quarter" idx="5"/>
          </p:nvPr>
        </p:nvSpPr>
        <p:spPr/>
        <p:txBody>
          <a:bodyPr/>
          <a:lstStyle/>
          <a:p>
            <a:fld id="{30B3460E-6A9A-43DB-9A90-01675B236B8E}" type="slidenum">
              <a:rPr lang="zh-TW" altLang="en-US" smtClean="0"/>
              <a:t>4</a:t>
            </a:fld>
            <a:endParaRPr lang="zh-TW" altLang="en-US"/>
          </a:p>
        </p:txBody>
      </p:sp>
    </p:spTree>
    <p:extLst>
      <p:ext uri="{BB962C8B-B14F-4D97-AF65-F5344CB8AC3E}">
        <p14:creationId xmlns:p14="http://schemas.microsoft.com/office/powerpoint/2010/main" val="1529751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透過測量所有帶通濾波器的輸出訊號的大小來確定每個時間段中存在哪兩個頻率分量。透過將頻率對轉換回按鍵來決定按下了哪個按鍵，</a:t>
            </a:r>
            <a:r>
              <a:rPr lang="en-US" altLang="zh-TW" dirty="0"/>
              <a:t>0-9</a:t>
            </a:r>
            <a:r>
              <a:rPr lang="zh-TW" altLang="en-US" dirty="0"/>
              <a:t>、</a:t>
            </a:r>
            <a:r>
              <a:rPr lang="en-US" altLang="zh-TW" dirty="0"/>
              <a:t>A-D</a:t>
            </a:r>
            <a:r>
              <a:rPr lang="zh-TW" altLang="en-US" dirty="0"/>
              <a:t>、* 或 </a:t>
            </a:r>
            <a:r>
              <a:rPr lang="en-US" altLang="zh-TW" dirty="0"/>
              <a:t>,#       </a:t>
            </a:r>
            <a:r>
              <a:rPr lang="zh-TW" altLang="en-US" dirty="0"/>
              <a:t>根據圖</a:t>
            </a:r>
            <a:r>
              <a:rPr lang="en-US" altLang="zh-TW" dirty="0"/>
              <a:t>1</a:t>
            </a:r>
            <a:r>
              <a:rPr lang="zh-TW" altLang="en-US" dirty="0"/>
              <a:t>命名。</a:t>
            </a:r>
          </a:p>
        </p:txBody>
      </p:sp>
      <p:sp>
        <p:nvSpPr>
          <p:cNvPr id="4" name="投影片編號版面配置區 3"/>
          <p:cNvSpPr>
            <a:spLocks noGrp="1"/>
          </p:cNvSpPr>
          <p:nvPr>
            <p:ph type="sldNum" sz="quarter" idx="5"/>
          </p:nvPr>
        </p:nvSpPr>
        <p:spPr/>
        <p:txBody>
          <a:bodyPr/>
          <a:lstStyle/>
          <a:p>
            <a:fld id="{30B3460E-6A9A-43DB-9A90-01675B236B8E}" type="slidenum">
              <a:rPr lang="zh-TW" altLang="en-US" smtClean="0"/>
              <a:t>5</a:t>
            </a:fld>
            <a:endParaRPr lang="zh-TW" altLang="en-US"/>
          </a:p>
        </p:txBody>
      </p:sp>
    </p:spTree>
    <p:extLst>
      <p:ext uri="{BB962C8B-B14F-4D97-AF65-F5344CB8AC3E}">
        <p14:creationId xmlns:p14="http://schemas.microsoft.com/office/powerpoint/2010/main" val="30164016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濾波器組由帶通濾波器（</a:t>
            </a:r>
            <a:r>
              <a:rPr lang="en-US" altLang="zh-TW" dirty="0"/>
              <a:t>BPF</a:t>
            </a:r>
            <a:r>
              <a:rPr lang="zh-TW" altLang="en-US" dirty="0"/>
              <a:t>）組成，其透過與圖 </a:t>
            </a:r>
            <a:r>
              <a:rPr lang="en-US" altLang="zh-TW" dirty="0"/>
              <a:t>1 </a:t>
            </a:r>
            <a:r>
              <a:rPr lang="zh-TW" altLang="en-US" dirty="0"/>
              <a:t>中列出的八個 </a:t>
            </a:r>
            <a:r>
              <a:rPr lang="en-US" altLang="zh-TW" dirty="0"/>
              <a:t>DTMF </a:t>
            </a:r>
            <a:r>
              <a:rPr lang="zh-TW" altLang="en-US" dirty="0"/>
              <a:t>分量頻率相對應的頻率。 每個方框的數字就是</a:t>
            </a:r>
            <a:r>
              <a:rPr lang="en-US" altLang="zh-TW" dirty="0"/>
              <a:t>BPF</a:t>
            </a:r>
            <a:r>
              <a:rPr lang="zh-TW" altLang="en-US" dirty="0"/>
              <a:t>的中心頻率。</a:t>
            </a:r>
          </a:p>
        </p:txBody>
      </p:sp>
      <p:sp>
        <p:nvSpPr>
          <p:cNvPr id="4" name="投影片編號版面配置區 3"/>
          <p:cNvSpPr>
            <a:spLocks noGrp="1"/>
          </p:cNvSpPr>
          <p:nvPr>
            <p:ph type="sldNum" sz="quarter" idx="5"/>
          </p:nvPr>
        </p:nvSpPr>
        <p:spPr/>
        <p:txBody>
          <a:bodyPr/>
          <a:lstStyle/>
          <a:p>
            <a:fld id="{30B3460E-6A9A-43DB-9A90-01675B236B8E}" type="slidenum">
              <a:rPr lang="zh-TW" altLang="en-US" smtClean="0"/>
              <a:t>6</a:t>
            </a:fld>
            <a:endParaRPr lang="zh-TW" altLang="en-US"/>
          </a:p>
        </p:txBody>
      </p:sp>
    </p:spTree>
    <p:extLst>
      <p:ext uri="{BB962C8B-B14F-4D97-AF65-F5344CB8AC3E}">
        <p14:creationId xmlns:p14="http://schemas.microsoft.com/office/powerpoint/2010/main" val="24198168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透過將許多正弦波連接在一起來創建很長的音樂訊號。 當兩個訊號依序播放時，透過串聯操作建立複合訊號。</a:t>
            </a:r>
          </a:p>
        </p:txBody>
      </p:sp>
      <p:sp>
        <p:nvSpPr>
          <p:cNvPr id="4" name="投影片編號版面配置區 3"/>
          <p:cNvSpPr>
            <a:spLocks noGrp="1"/>
          </p:cNvSpPr>
          <p:nvPr>
            <p:ph type="sldNum" sz="quarter" idx="5"/>
          </p:nvPr>
        </p:nvSpPr>
        <p:spPr/>
        <p:txBody>
          <a:bodyPr/>
          <a:lstStyle/>
          <a:p>
            <a:fld id="{30B3460E-6A9A-43DB-9A90-01675B236B8E}" type="slidenum">
              <a:rPr lang="zh-TW" altLang="en-US" smtClean="0"/>
              <a:t>7</a:t>
            </a:fld>
            <a:endParaRPr lang="zh-TW" altLang="en-US"/>
          </a:p>
        </p:txBody>
      </p:sp>
    </p:spTree>
    <p:extLst>
      <p:ext uri="{BB962C8B-B14F-4D97-AF65-F5344CB8AC3E}">
        <p14:creationId xmlns:p14="http://schemas.microsoft.com/office/powerpoint/2010/main" val="29288283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7772400" cy="1470025"/>
          </a:xfrm>
        </p:spPr>
        <p:txBody>
          <a:bodyPr/>
          <a:lstStyle/>
          <a:p>
            <a:r>
              <a:rPr lang="zh-TW" altLang="en-US"/>
              <a:t>按一下以編輯母片標題樣式</a:t>
            </a:r>
          </a:p>
        </p:txBody>
      </p:sp>
      <p:sp>
        <p:nvSpPr>
          <p:cNvPr id="3" name="副標題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a:t>按一下以編輯母片副標題樣式</a:t>
            </a:r>
          </a:p>
        </p:txBody>
      </p:sp>
      <p:sp>
        <p:nvSpPr>
          <p:cNvPr id="4" name="日期版面配置區 3"/>
          <p:cNvSpPr>
            <a:spLocks noGrp="1"/>
          </p:cNvSpPr>
          <p:nvPr>
            <p:ph type="dt" sz="half" idx="10"/>
          </p:nvPr>
        </p:nvSpPr>
        <p:spPr/>
        <p:txBody>
          <a:bodyPr/>
          <a:lstStyle/>
          <a:p>
            <a:fld id="{BA3E2EED-B569-4576-A40D-B8418AD12610}" type="datetimeFigureOut">
              <a:rPr lang="zh-TW" altLang="en-US" smtClean="0"/>
              <a:t>2025/11/26</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3B26DC73-2CFF-4266-A5ED-927281BED7EB}" type="slidenum">
              <a:rPr lang="zh-TW" altLang="en-US" smtClean="0"/>
              <a:t>‹#›</a:t>
            </a:fld>
            <a:endParaRPr lang="zh-TW" altLang="en-US"/>
          </a:p>
        </p:txBody>
      </p:sp>
    </p:spTree>
    <p:extLst>
      <p:ext uri="{BB962C8B-B14F-4D97-AF65-F5344CB8AC3E}">
        <p14:creationId xmlns:p14="http://schemas.microsoft.com/office/powerpoint/2010/main" val="14881474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BA3E2EED-B569-4576-A40D-B8418AD12610}" type="datetimeFigureOut">
              <a:rPr lang="zh-TW" altLang="en-US" smtClean="0"/>
              <a:t>2025/11/26</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3B26DC73-2CFF-4266-A5ED-927281BED7EB}" type="slidenum">
              <a:rPr lang="zh-TW" altLang="en-US" smtClean="0"/>
              <a:t>‹#›</a:t>
            </a:fld>
            <a:endParaRPr lang="zh-TW" altLang="en-US"/>
          </a:p>
        </p:txBody>
      </p:sp>
    </p:spTree>
    <p:extLst>
      <p:ext uri="{BB962C8B-B14F-4D97-AF65-F5344CB8AC3E}">
        <p14:creationId xmlns:p14="http://schemas.microsoft.com/office/powerpoint/2010/main" val="7654333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a:t>按一下以編輯母片標題樣式</a:t>
            </a:r>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a:t>按一下以編輯母片文字樣式</a:t>
            </a:r>
          </a:p>
        </p:txBody>
      </p:sp>
      <p:sp>
        <p:nvSpPr>
          <p:cNvPr id="4" name="日期版面配置區 3"/>
          <p:cNvSpPr>
            <a:spLocks noGrp="1"/>
          </p:cNvSpPr>
          <p:nvPr>
            <p:ph type="dt" sz="half" idx="10"/>
          </p:nvPr>
        </p:nvSpPr>
        <p:spPr/>
        <p:txBody>
          <a:bodyPr/>
          <a:lstStyle/>
          <a:p>
            <a:fld id="{BA3E2EED-B569-4576-A40D-B8418AD12610}" type="datetimeFigureOut">
              <a:rPr lang="zh-TW" altLang="en-US" smtClean="0"/>
              <a:t>2025/11/26</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3B26DC73-2CFF-4266-A5ED-927281BED7EB}" type="slidenum">
              <a:rPr lang="zh-TW" altLang="en-US" smtClean="0"/>
              <a:t>‹#›</a:t>
            </a:fld>
            <a:endParaRPr lang="zh-TW" altLang="en-US"/>
          </a:p>
        </p:txBody>
      </p:sp>
    </p:spTree>
    <p:extLst>
      <p:ext uri="{BB962C8B-B14F-4D97-AF65-F5344CB8AC3E}">
        <p14:creationId xmlns:p14="http://schemas.microsoft.com/office/powerpoint/2010/main" val="2637625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p:cNvSpPr>
            <a:spLocks noGrp="1"/>
          </p:cNvSpPr>
          <p:nvPr>
            <p:ph type="dt" sz="half" idx="10"/>
          </p:nvPr>
        </p:nvSpPr>
        <p:spPr/>
        <p:txBody>
          <a:bodyPr/>
          <a:lstStyle/>
          <a:p>
            <a:fld id="{BA3E2EED-B569-4576-A40D-B8418AD12610}" type="datetimeFigureOut">
              <a:rPr lang="zh-TW" altLang="en-US" smtClean="0"/>
              <a:t>2025/11/26</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3B26DC73-2CFF-4266-A5ED-927281BED7EB}" type="slidenum">
              <a:rPr lang="zh-TW" altLang="en-US" smtClean="0"/>
              <a:t>‹#›</a:t>
            </a:fld>
            <a:endParaRPr lang="zh-TW" altLang="en-US"/>
          </a:p>
        </p:txBody>
      </p:sp>
    </p:spTree>
    <p:extLst>
      <p:ext uri="{BB962C8B-B14F-4D97-AF65-F5344CB8AC3E}">
        <p14:creationId xmlns:p14="http://schemas.microsoft.com/office/powerpoint/2010/main" val="41494734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lvl1pPr>
          </a:lstStyle>
          <a:p>
            <a:r>
              <a:rPr lang="zh-TW" altLang="en-US"/>
              <a:t>按一下以編輯母片標題樣式</a:t>
            </a:r>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p:cNvSpPr>
            <a:spLocks noGrp="1"/>
          </p:cNvSpPr>
          <p:nvPr>
            <p:ph type="dt" sz="half" idx="10"/>
          </p:nvPr>
        </p:nvSpPr>
        <p:spPr/>
        <p:txBody>
          <a:bodyPr/>
          <a:lstStyle/>
          <a:p>
            <a:fld id="{BA3E2EED-B569-4576-A40D-B8418AD12610}" type="datetimeFigureOut">
              <a:rPr lang="zh-TW" altLang="en-US" smtClean="0"/>
              <a:t>2025/11/26</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3B26DC73-2CFF-4266-A5ED-927281BED7EB}" type="slidenum">
              <a:rPr lang="zh-TW" altLang="en-US" smtClean="0"/>
              <a:t>‹#›</a:t>
            </a:fld>
            <a:endParaRPr lang="zh-TW" altLang="en-US"/>
          </a:p>
        </p:txBody>
      </p:sp>
    </p:spTree>
    <p:extLst>
      <p:ext uri="{BB962C8B-B14F-4D97-AF65-F5344CB8AC3E}">
        <p14:creationId xmlns:p14="http://schemas.microsoft.com/office/powerpoint/2010/main" val="30295661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日期版面配置區 2"/>
          <p:cNvSpPr>
            <a:spLocks noGrp="1"/>
          </p:cNvSpPr>
          <p:nvPr>
            <p:ph type="dt" sz="half" idx="10"/>
          </p:nvPr>
        </p:nvSpPr>
        <p:spPr/>
        <p:txBody>
          <a:bodyPr/>
          <a:lstStyle/>
          <a:p>
            <a:fld id="{BA3E2EED-B569-4576-A40D-B8418AD12610}" type="datetimeFigureOut">
              <a:rPr lang="zh-TW" altLang="en-US" smtClean="0"/>
              <a:t>2025/11/26</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3B26DC73-2CFF-4266-A5ED-927281BED7EB}" type="slidenum">
              <a:rPr lang="zh-TW" altLang="en-US" smtClean="0"/>
              <a:t>‹#›</a:t>
            </a:fld>
            <a:endParaRPr lang="zh-TW" altLang="en-US"/>
          </a:p>
        </p:txBody>
      </p:sp>
    </p:spTree>
    <p:extLst>
      <p:ext uri="{BB962C8B-B14F-4D97-AF65-F5344CB8AC3E}">
        <p14:creationId xmlns:p14="http://schemas.microsoft.com/office/powerpoint/2010/main" val="31482952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BA3E2EED-B569-4576-A40D-B8418AD12610}" type="datetimeFigureOut">
              <a:rPr lang="zh-TW" altLang="en-US" smtClean="0"/>
              <a:t>2025/11/26</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3B26DC73-2CFF-4266-A5ED-927281BED7EB}" type="slidenum">
              <a:rPr lang="zh-TW" altLang="en-US" smtClean="0"/>
              <a:t>‹#›</a:t>
            </a:fld>
            <a:endParaRPr lang="zh-TW" altLang="en-US"/>
          </a:p>
        </p:txBody>
      </p:sp>
    </p:spTree>
    <p:extLst>
      <p:ext uri="{BB962C8B-B14F-4D97-AF65-F5344CB8AC3E}">
        <p14:creationId xmlns:p14="http://schemas.microsoft.com/office/powerpoint/2010/main" val="24602559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zh-TW" altLang="en-US"/>
              <a:t>按一下以編輯母片標題樣式</a:t>
            </a:r>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5" name="日期版面配置區 4"/>
          <p:cNvSpPr>
            <a:spLocks noGrp="1"/>
          </p:cNvSpPr>
          <p:nvPr>
            <p:ph type="dt" sz="half" idx="10"/>
          </p:nvPr>
        </p:nvSpPr>
        <p:spPr/>
        <p:txBody>
          <a:bodyPr/>
          <a:lstStyle/>
          <a:p>
            <a:fld id="{BA3E2EED-B569-4576-A40D-B8418AD12610}" type="datetimeFigureOut">
              <a:rPr lang="zh-TW" altLang="en-US" smtClean="0"/>
              <a:t>2025/11/26</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3B26DC73-2CFF-4266-A5ED-927281BED7EB}" type="slidenum">
              <a:rPr lang="zh-TW" altLang="en-US" smtClean="0"/>
              <a:t>‹#›</a:t>
            </a:fld>
            <a:endParaRPr lang="zh-TW" altLang="en-US"/>
          </a:p>
        </p:txBody>
      </p:sp>
    </p:spTree>
    <p:extLst>
      <p:ext uri="{BB962C8B-B14F-4D97-AF65-F5344CB8AC3E}">
        <p14:creationId xmlns:p14="http://schemas.microsoft.com/office/powerpoint/2010/main" val="19003495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a:t>按一下以編輯母片標題樣式</a:t>
            </a:r>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5" name="日期版面配置區 4"/>
          <p:cNvSpPr>
            <a:spLocks noGrp="1"/>
          </p:cNvSpPr>
          <p:nvPr>
            <p:ph type="dt" sz="half" idx="10"/>
          </p:nvPr>
        </p:nvSpPr>
        <p:spPr/>
        <p:txBody>
          <a:bodyPr/>
          <a:lstStyle/>
          <a:p>
            <a:fld id="{BA3E2EED-B569-4576-A40D-B8418AD12610}" type="datetimeFigureOut">
              <a:rPr lang="zh-TW" altLang="en-US" smtClean="0"/>
              <a:t>2025/11/26</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3B26DC73-2CFF-4266-A5ED-927281BED7EB}" type="slidenum">
              <a:rPr lang="zh-TW" altLang="en-US" smtClean="0"/>
              <a:t>‹#›</a:t>
            </a:fld>
            <a:endParaRPr lang="zh-TW" altLang="en-US"/>
          </a:p>
        </p:txBody>
      </p:sp>
    </p:spTree>
    <p:extLst>
      <p:ext uri="{BB962C8B-B14F-4D97-AF65-F5344CB8AC3E}">
        <p14:creationId xmlns:p14="http://schemas.microsoft.com/office/powerpoint/2010/main" val="18688400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直排文字版面配置區 2"/>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BA3E2EED-B569-4576-A40D-B8418AD12610}" type="datetimeFigureOut">
              <a:rPr lang="zh-TW" altLang="en-US" smtClean="0"/>
              <a:t>2025/11/26</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3B26DC73-2CFF-4266-A5ED-927281BED7EB}" type="slidenum">
              <a:rPr lang="zh-TW" altLang="en-US" smtClean="0"/>
              <a:t>‹#›</a:t>
            </a:fld>
            <a:endParaRPr lang="zh-TW" altLang="en-US"/>
          </a:p>
        </p:txBody>
      </p:sp>
    </p:spTree>
    <p:extLst>
      <p:ext uri="{BB962C8B-B14F-4D97-AF65-F5344CB8AC3E}">
        <p14:creationId xmlns:p14="http://schemas.microsoft.com/office/powerpoint/2010/main" val="42808591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4638"/>
            <a:ext cx="2057400" cy="5851525"/>
          </a:xfrm>
        </p:spPr>
        <p:txBody>
          <a:bodyPr vert="eaVert"/>
          <a:lstStyle/>
          <a:p>
            <a:r>
              <a:rPr lang="zh-TW" altLang="en-US"/>
              <a:t>按一下以編輯母片標題樣式</a:t>
            </a:r>
          </a:p>
        </p:txBody>
      </p:sp>
      <p:sp>
        <p:nvSpPr>
          <p:cNvPr id="3" name="直排文字版面配置區 2"/>
          <p:cNvSpPr>
            <a:spLocks noGrp="1"/>
          </p:cNvSpPr>
          <p:nvPr>
            <p:ph type="body" orient="vert" idx="1"/>
          </p:nvPr>
        </p:nvSpPr>
        <p:spPr>
          <a:xfrm>
            <a:off x="457200" y="274638"/>
            <a:ext cx="6019800" cy="5851525"/>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BA3E2EED-B569-4576-A40D-B8418AD12610}" type="datetimeFigureOut">
              <a:rPr lang="zh-TW" altLang="en-US" smtClean="0"/>
              <a:t>2025/11/26</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3B26DC73-2CFF-4266-A5ED-927281BED7EB}" type="slidenum">
              <a:rPr lang="zh-TW" altLang="en-US" smtClean="0"/>
              <a:t>‹#›</a:t>
            </a:fld>
            <a:endParaRPr lang="zh-TW" altLang="en-US"/>
          </a:p>
        </p:txBody>
      </p:sp>
    </p:spTree>
    <p:extLst>
      <p:ext uri="{BB962C8B-B14F-4D97-AF65-F5344CB8AC3E}">
        <p14:creationId xmlns:p14="http://schemas.microsoft.com/office/powerpoint/2010/main" val="910475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A3E2EED-B569-4576-A40D-B8418AD12610}" type="datetimeFigureOut">
              <a:rPr lang="zh-TW" altLang="en-US" smtClean="0"/>
              <a:t>2025/11/26</a:t>
            </a:fld>
            <a:endParaRPr lang="zh-TW" altLang="en-US"/>
          </a:p>
        </p:txBody>
      </p:sp>
      <p:sp>
        <p:nvSpPr>
          <p:cNvPr id="5" name="頁尾版面配置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B26DC73-2CFF-4266-A5ED-927281BED7EB}" type="slidenum">
              <a:rPr lang="zh-TW" altLang="en-US" smtClean="0"/>
              <a:t>‹#›</a:t>
            </a:fld>
            <a:endParaRPr lang="zh-TW" altLang="en-US"/>
          </a:p>
        </p:txBody>
      </p:sp>
    </p:spTree>
    <p:extLst>
      <p:ext uri="{BB962C8B-B14F-4D97-AF65-F5344CB8AC3E}">
        <p14:creationId xmlns:p14="http://schemas.microsoft.com/office/powerpoint/2010/main" val="355261568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p:txBody>
          <a:bodyPr/>
          <a:lstStyle/>
          <a:p>
            <a:r>
              <a:rPr lang="en-US" altLang="zh-TW" dirty="0">
                <a:latin typeface="Times New Roman" panose="02020603050405020304" pitchFamily="18" charset="0"/>
                <a:cs typeface="Times New Roman" panose="02020603050405020304" pitchFamily="18" charset="0"/>
              </a:rPr>
              <a:t>Final project: Encoding and Decoding Touch-Tone Signals</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825462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sz="3200" dirty="0"/>
              <a:t>Background: Telephone Touch Tone Dialing</a:t>
            </a:r>
            <a:endParaRPr lang="zh-TW" altLang="en-US" sz="3200" dirty="0"/>
          </a:p>
        </p:txBody>
      </p:sp>
      <p:sp>
        <p:nvSpPr>
          <p:cNvPr id="3" name="內容版面配置區 2"/>
          <p:cNvSpPr>
            <a:spLocks noGrp="1"/>
          </p:cNvSpPr>
          <p:nvPr>
            <p:ph idx="1"/>
          </p:nvPr>
        </p:nvSpPr>
        <p:spPr/>
        <p:txBody>
          <a:bodyPr>
            <a:normAutofit/>
          </a:bodyPr>
          <a:lstStyle/>
          <a:p>
            <a:pPr algn="just">
              <a:lnSpc>
                <a:spcPct val="150000"/>
              </a:lnSpc>
              <a:buFont typeface="Wingdings" panose="05000000000000000000" pitchFamily="2" charset="2"/>
              <a:buChar char="l"/>
            </a:pPr>
            <a:r>
              <a:rPr lang="en-US" altLang="zh-TW" sz="2400" dirty="0">
                <a:latin typeface="Times New Roman" panose="02020603050405020304" pitchFamily="18" charset="0"/>
                <a:cs typeface="Times New Roman" panose="02020603050405020304" pitchFamily="18" charset="0"/>
              </a:rPr>
              <a:t>Telephone touch-tone pads generate dual tone multiple frequency(DTMF) signals to dial a telephone.</a:t>
            </a:r>
          </a:p>
          <a:p>
            <a:pPr algn="just">
              <a:lnSpc>
                <a:spcPct val="150000"/>
              </a:lnSpc>
              <a:buFont typeface="Wingdings" panose="05000000000000000000" pitchFamily="2" charset="2"/>
              <a:buChar char="l"/>
            </a:pPr>
            <a:r>
              <a:rPr lang="en-US" altLang="zh-TW" sz="2400" dirty="0">
                <a:latin typeface="Times New Roman" panose="02020603050405020304" pitchFamily="18" charset="0"/>
                <a:cs typeface="Times New Roman" panose="02020603050405020304" pitchFamily="18" charset="0"/>
              </a:rPr>
              <a:t>When any key is pressed, the sinusoids of the corresponding row and column frequencies are generated and summed ,hence dual tone.</a:t>
            </a:r>
            <a:endParaRPr lang="zh-TW" altLang="en-US" sz="2400" dirty="0">
              <a:latin typeface="Times New Roman" panose="02020603050405020304" pitchFamily="18" charset="0"/>
              <a:cs typeface="Times New Roman" panose="02020603050405020304" pitchFamily="18" charset="0"/>
            </a:endParaRP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3568" y="4629150"/>
            <a:ext cx="7677150" cy="22288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6244271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 y="188640"/>
            <a:ext cx="9082697" cy="26369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文字方塊 3"/>
          <p:cNvSpPr txBox="1"/>
          <p:nvPr/>
        </p:nvSpPr>
        <p:spPr>
          <a:xfrm>
            <a:off x="-1" y="2924944"/>
            <a:ext cx="9144002" cy="2805063"/>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l"/>
            </a:pPr>
            <a:r>
              <a:rPr lang="en-US" altLang="zh-TW" sz="2400" dirty="0">
                <a:latin typeface="Times New Roman" panose="02020603050405020304" pitchFamily="18" charset="0"/>
                <a:cs typeface="Times New Roman" panose="02020603050405020304" pitchFamily="18" charset="0"/>
              </a:rPr>
              <a:t>Extended DTMF encoding table for Touch Tone dialing. When any key is pressed  the tone of the corresponding column and row are generated and summed. Key A-D (in the fourth column)  are implemented on commercial and household telephone sets, but are used in some military and other signaling application.</a:t>
            </a:r>
            <a:endParaRPr lang="zh-TW"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534081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00750" y="3886200"/>
            <a:ext cx="3143250" cy="2971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標題 1"/>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DTMF Decoding</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p:txBody>
          <a:bodyPr>
            <a:normAutofit/>
          </a:bodyPr>
          <a:lstStyle/>
          <a:p>
            <a:pPr marL="457200" indent="-457200">
              <a:lnSpc>
                <a:spcPct val="150000"/>
              </a:lnSpc>
              <a:buFont typeface="+mj-lt"/>
              <a:buAutoNum type="arabicPeriod"/>
            </a:pPr>
            <a:r>
              <a:rPr lang="en-US" altLang="zh-TW" sz="2400" dirty="0">
                <a:latin typeface="Times New Roman" panose="02020603050405020304" pitchFamily="18" charset="0"/>
                <a:cs typeface="Times New Roman" panose="02020603050405020304" pitchFamily="18" charset="0"/>
              </a:rPr>
              <a:t>Divide the time signal into short time segment representation individual key presses.</a:t>
            </a:r>
          </a:p>
          <a:p>
            <a:pPr marL="457200" indent="-457200">
              <a:lnSpc>
                <a:spcPct val="150000"/>
              </a:lnSpc>
              <a:buFont typeface="+mj-lt"/>
              <a:buAutoNum type="arabicPeriod"/>
            </a:pPr>
            <a:r>
              <a:rPr lang="en-US" altLang="zh-TW" sz="2400" dirty="0">
                <a:latin typeface="Times New Roman" panose="02020603050405020304" pitchFamily="18" charset="0"/>
                <a:cs typeface="Times New Roman" panose="02020603050405020304" pitchFamily="18" charset="0"/>
              </a:rPr>
              <a:t>Filter the individual segments to extract the possible frequency component. Bandpass filters can be used to isolate the sinusoidal components.</a:t>
            </a:r>
          </a:p>
        </p:txBody>
      </p:sp>
    </p:spTree>
    <p:extLst>
      <p:ext uri="{BB962C8B-B14F-4D97-AF65-F5344CB8AC3E}">
        <p14:creationId xmlns:p14="http://schemas.microsoft.com/office/powerpoint/2010/main" val="29770968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DTMF Decoding</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p:txBody>
          <a:bodyPr>
            <a:normAutofit/>
          </a:bodyPr>
          <a:lstStyle/>
          <a:p>
            <a:pPr marL="457200" indent="-457200">
              <a:lnSpc>
                <a:spcPct val="150000"/>
              </a:lnSpc>
              <a:buFont typeface="+mj-lt"/>
              <a:buAutoNum type="arabicPeriod" startAt="3"/>
            </a:pPr>
            <a:r>
              <a:rPr lang="en-US" altLang="zh-TW" sz="2400" dirty="0">
                <a:latin typeface="Times New Roman" panose="02020603050405020304" pitchFamily="18" charset="0"/>
                <a:cs typeface="Times New Roman" panose="02020603050405020304" pitchFamily="18" charset="0"/>
              </a:rPr>
              <a:t>Determine which two frequency components are present in each time segment by measuring the size of the output signal from all of the bandpass filters.</a:t>
            </a:r>
          </a:p>
          <a:p>
            <a:pPr marL="457200" indent="-457200">
              <a:lnSpc>
                <a:spcPct val="150000"/>
              </a:lnSpc>
              <a:buFont typeface="+mj-lt"/>
              <a:buAutoNum type="arabicPeriod" startAt="4"/>
            </a:pPr>
            <a:r>
              <a:rPr lang="en-US" altLang="zh-TW" sz="2400" dirty="0">
                <a:latin typeface="Times New Roman" panose="02020603050405020304" pitchFamily="18" charset="0"/>
                <a:cs typeface="Times New Roman" panose="02020603050405020304" pitchFamily="18" charset="0"/>
              </a:rPr>
              <a:t>Determine which key was pressed, 0-9, A-D, * or ,# by converting frequency pairs back into key </a:t>
            </a:r>
          </a:p>
          <a:p>
            <a:pPr marL="0" indent="0">
              <a:lnSpc>
                <a:spcPct val="150000"/>
              </a:lnSpc>
              <a:buNone/>
            </a:pPr>
            <a:r>
              <a:rPr lang="en-US" altLang="zh-TW" sz="2400" dirty="0">
                <a:latin typeface="Times New Roman" panose="02020603050405020304" pitchFamily="18" charset="0"/>
                <a:cs typeface="Times New Roman" panose="02020603050405020304" pitchFamily="18" charset="0"/>
              </a:rPr>
              <a:t>      names according to Fig.1. </a:t>
            </a:r>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00750" y="3886200"/>
            <a:ext cx="3143250" cy="2971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7016017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058" y="6447"/>
            <a:ext cx="4990098" cy="412759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文字方塊 4"/>
          <p:cNvSpPr txBox="1"/>
          <p:nvPr/>
        </p:nvSpPr>
        <p:spPr>
          <a:xfrm>
            <a:off x="-1" y="4052937"/>
            <a:ext cx="9144002" cy="2308324"/>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l"/>
            </a:pPr>
            <a:r>
              <a:rPr lang="en-US" altLang="zh-TW" sz="2400" dirty="0">
                <a:latin typeface="Times New Roman" panose="02020603050405020304" pitchFamily="18" charset="0"/>
                <a:cs typeface="Times New Roman" panose="02020603050405020304" pitchFamily="18" charset="0"/>
              </a:rPr>
              <a:t>Filter bank consisting of bandpass filters(BPFs) which pass frequencies corresponding to the eight DTMF components frequencies listed in Fig.1. The number is each box is the center frequency of the BPF.</a:t>
            </a:r>
            <a:endParaRPr lang="zh-TW" altLang="en-US" sz="2400" dirty="0">
              <a:latin typeface="Times New Roman" panose="02020603050405020304" pitchFamily="18" charset="0"/>
              <a:cs typeface="Times New Roman" panose="02020603050405020304" pitchFamily="18" charset="0"/>
            </a:endParaRPr>
          </a:p>
        </p:txBody>
      </p:sp>
      <p:pic>
        <p:nvPicPr>
          <p:cNvPr id="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02652" y="1628800"/>
            <a:ext cx="4541349" cy="131845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1949595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Signal Concatenation</a:t>
            </a:r>
            <a:endParaRPr lang="zh-TW" altLang="en-US" dirty="0"/>
          </a:p>
        </p:txBody>
      </p:sp>
      <p:sp>
        <p:nvSpPr>
          <p:cNvPr id="3" name="內容版面配置區 2"/>
          <p:cNvSpPr>
            <a:spLocks noGrp="1"/>
          </p:cNvSpPr>
          <p:nvPr>
            <p:ph idx="1"/>
          </p:nvPr>
        </p:nvSpPr>
        <p:spPr/>
        <p:txBody>
          <a:bodyPr>
            <a:normAutofit/>
          </a:bodyPr>
          <a:lstStyle/>
          <a:p>
            <a:pPr algn="just">
              <a:lnSpc>
                <a:spcPct val="150000"/>
              </a:lnSpc>
            </a:pPr>
            <a:r>
              <a:rPr lang="en-US" altLang="zh-TW" sz="2400" dirty="0">
                <a:latin typeface="Times New Roman" panose="02020603050405020304" pitchFamily="18" charset="0"/>
                <a:cs typeface="Times New Roman" panose="02020603050405020304" pitchFamily="18" charset="0"/>
              </a:rPr>
              <a:t>A very long music signal was created by joining together many sinusoids. When two signals were played one after the other, the composite signal was created by the operation of concatenation.</a:t>
            </a:r>
          </a:p>
          <a:p>
            <a:pPr>
              <a:lnSpc>
                <a:spcPct val="150000"/>
              </a:lnSpc>
            </a:pPr>
            <a:r>
              <a:rPr lang="en-US" altLang="zh-TW" sz="2400" dirty="0">
                <a:latin typeface="Times New Roman" panose="02020603050405020304" pitchFamily="18" charset="0"/>
                <a:cs typeface="Times New Roman" panose="02020603050405020304" pitchFamily="18" charset="0"/>
              </a:rPr>
              <a:t>xx = [ xx, xxnew ];</a:t>
            </a:r>
            <a:endParaRPr lang="zh-TW"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8199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Encoding from a Table</a:t>
            </a:r>
            <a:endParaRPr lang="zh-TW" altLang="en-US" dirty="0"/>
          </a:p>
        </p:txBody>
      </p:sp>
      <p:sp>
        <p:nvSpPr>
          <p:cNvPr id="3" name="內容版面配置區 2"/>
          <p:cNvSpPr>
            <a:spLocks noGrp="1"/>
          </p:cNvSpPr>
          <p:nvPr>
            <p:ph idx="1"/>
          </p:nvPr>
        </p:nvSpPr>
        <p:spPr/>
        <p:txBody>
          <a:bodyPr>
            <a:normAutofit fontScale="70000" lnSpcReduction="20000"/>
          </a:bodyPr>
          <a:lstStyle/>
          <a:p>
            <a:r>
              <a:rPr lang="en-US" altLang="zh-TW" dirty="0">
                <a:latin typeface="Times New Roman" panose="02020603050405020304" pitchFamily="18" charset="0"/>
                <a:cs typeface="Times New Roman" panose="02020603050405020304" pitchFamily="18" charset="0"/>
              </a:rPr>
              <a:t>ftable = [1;2;3;4;5]*[80,110]</a:t>
            </a:r>
          </a:p>
          <a:p>
            <a:r>
              <a:rPr lang="en-US" altLang="zh-TW" dirty="0">
                <a:latin typeface="Times New Roman" panose="02020603050405020304" pitchFamily="18" charset="0"/>
                <a:cs typeface="Times New Roman" panose="02020603050405020304" pitchFamily="18" charset="0"/>
              </a:rPr>
              <a:t>fs = 8000;</a:t>
            </a:r>
          </a:p>
          <a:p>
            <a:r>
              <a:rPr lang="en-US" altLang="zh-TW" dirty="0">
                <a:latin typeface="Times New Roman" panose="02020603050405020304" pitchFamily="18" charset="0"/>
                <a:cs typeface="Times New Roman" panose="02020603050405020304" pitchFamily="18" charset="0"/>
              </a:rPr>
              <a:t>xx = [ ];</a:t>
            </a:r>
          </a:p>
          <a:p>
            <a:r>
              <a:rPr lang="en-US" altLang="zh-TW" dirty="0">
                <a:latin typeface="Times New Roman" panose="02020603050405020304" pitchFamily="18" charset="0"/>
                <a:cs typeface="Times New Roman" panose="02020603050405020304" pitchFamily="18" charset="0"/>
              </a:rPr>
              <a:t>disp(’--- Here we go through the Loop ---’)</a:t>
            </a:r>
          </a:p>
          <a:p>
            <a:r>
              <a:rPr lang="en-US" altLang="zh-TW" dirty="0">
                <a:latin typeface="Times New Roman" panose="02020603050405020304" pitchFamily="18" charset="0"/>
                <a:cs typeface="Times New Roman" panose="02020603050405020304" pitchFamily="18" charset="0"/>
              </a:rPr>
              <a:t>keys = rem(3:12,10) + 1;</a:t>
            </a:r>
          </a:p>
          <a:p>
            <a:r>
              <a:rPr lang="en-US" altLang="zh-TW" dirty="0">
                <a:latin typeface="Times New Roman" panose="02020603050405020304" pitchFamily="18" charset="0"/>
                <a:cs typeface="Times New Roman" panose="02020603050405020304" pitchFamily="18" charset="0"/>
              </a:rPr>
              <a:t>for ii = 1:length(keys)</a:t>
            </a:r>
          </a:p>
          <a:p>
            <a:r>
              <a:rPr lang="en-US" altLang="zh-TW" dirty="0">
                <a:latin typeface="Times New Roman" panose="02020603050405020304" pitchFamily="18" charset="0"/>
                <a:cs typeface="Times New Roman" panose="02020603050405020304" pitchFamily="18" charset="0"/>
              </a:rPr>
              <a:t>kk = keys(ii);</a:t>
            </a:r>
          </a:p>
          <a:p>
            <a:r>
              <a:rPr lang="en-US" altLang="zh-TW" dirty="0">
                <a:latin typeface="Times New Roman" panose="02020603050405020304" pitchFamily="18" charset="0"/>
                <a:cs typeface="Times New Roman" panose="02020603050405020304" pitchFamily="18" charset="0"/>
              </a:rPr>
              <a:t>xx = [xx,zeros(1,400)];</a:t>
            </a:r>
          </a:p>
          <a:p>
            <a:r>
              <a:rPr lang="en-US" altLang="zh-TW" dirty="0">
                <a:latin typeface="Times New Roman" panose="02020603050405020304" pitchFamily="18" charset="0"/>
                <a:cs typeface="Times New Roman" panose="02020603050405020304" pitchFamily="18" charset="0"/>
              </a:rPr>
              <a:t>krow = ceil(kk/2);</a:t>
            </a:r>
          </a:p>
          <a:p>
            <a:r>
              <a:rPr lang="en-US" altLang="zh-TW" dirty="0">
                <a:latin typeface="Times New Roman" panose="02020603050405020304" pitchFamily="18" charset="0"/>
                <a:cs typeface="Times New Roman" panose="02020603050405020304" pitchFamily="18" charset="0"/>
              </a:rPr>
              <a:t>kcol = rem(kk-1,2) + 1;</a:t>
            </a:r>
          </a:p>
          <a:p>
            <a:r>
              <a:rPr lang="en-US" altLang="zh-TW" dirty="0">
                <a:latin typeface="Times New Roman" panose="02020603050405020304" pitchFamily="18" charset="0"/>
                <a:cs typeface="Times New Roman" panose="02020603050405020304" pitchFamily="18" charset="0"/>
              </a:rPr>
              <a:t>xx = [xx, cos(2*pi*ftable(krow,kcol)*(0:1199)/fs) ];</a:t>
            </a:r>
          </a:p>
          <a:p>
            <a:r>
              <a:rPr lang="en-US" altLang="zh-TW" dirty="0">
                <a:latin typeface="Times New Roman" panose="02020603050405020304" pitchFamily="18" charset="0"/>
                <a:cs typeface="Times New Roman" panose="02020603050405020304" pitchFamily="18" charset="0"/>
              </a:rPr>
              <a:t>end</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521200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sz="4000" b="1" dirty="0"/>
              <a:t>Testing the DTMF system</a:t>
            </a:r>
            <a:endParaRPr lang="zh-TW" altLang="en-US" sz="4000" b="1" dirty="0"/>
          </a:p>
        </p:txBody>
      </p:sp>
      <p:pic>
        <p:nvPicPr>
          <p:cNvPr id="205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95536" y="1556792"/>
            <a:ext cx="8229600" cy="188173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矩形 3"/>
          <p:cNvSpPr/>
          <p:nvPr/>
        </p:nvSpPr>
        <p:spPr>
          <a:xfrm>
            <a:off x="1259632" y="2060848"/>
            <a:ext cx="2160240" cy="21602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27797749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b="1" dirty="0"/>
              <a:t>DTMF Dial Function</a:t>
            </a:r>
            <a:endParaRPr lang="zh-TW" altLang="en-US"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528" y="1412776"/>
            <a:ext cx="8382037" cy="411611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5539461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sz="4000" b="1" dirty="0"/>
              <a:t>Testing the DTMF system</a:t>
            </a:r>
            <a:endParaRPr lang="zh-TW" altLang="en-US" sz="4000" b="1" dirty="0"/>
          </a:p>
        </p:txBody>
      </p:sp>
      <p:pic>
        <p:nvPicPr>
          <p:cNvPr id="205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95536" y="1556792"/>
            <a:ext cx="8229600" cy="188173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矩形 3"/>
          <p:cNvSpPr/>
          <p:nvPr/>
        </p:nvSpPr>
        <p:spPr>
          <a:xfrm>
            <a:off x="755576" y="2708920"/>
            <a:ext cx="2160240" cy="21602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3772699"/>
            <a:ext cx="3624809" cy="299828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9" name="文字方塊 8"/>
          <p:cNvSpPr txBox="1"/>
          <p:nvPr/>
        </p:nvSpPr>
        <p:spPr>
          <a:xfrm>
            <a:off x="3804829" y="4221087"/>
            <a:ext cx="1577398" cy="461665"/>
          </a:xfrm>
          <a:prstGeom prst="rect">
            <a:avLst/>
          </a:prstGeom>
          <a:noFill/>
        </p:spPr>
        <p:txBody>
          <a:bodyPr wrap="square" rtlCol="0">
            <a:spAutoFit/>
          </a:bodyPr>
          <a:lstStyle/>
          <a:p>
            <a:pPr algn="ctr"/>
            <a:r>
              <a:rPr lang="en-US" altLang="zh-TW" sz="2400" dirty="0"/>
              <a:t>Matching</a:t>
            </a:r>
            <a:endParaRPr lang="zh-TW" altLang="en-US" sz="2400" dirty="0"/>
          </a:p>
        </p:txBody>
      </p:sp>
      <p:sp>
        <p:nvSpPr>
          <p:cNvPr id="10" name="左-右雙向箭號 9"/>
          <p:cNvSpPr/>
          <p:nvPr/>
        </p:nvSpPr>
        <p:spPr>
          <a:xfrm>
            <a:off x="3624809" y="4682753"/>
            <a:ext cx="1937438" cy="720080"/>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12"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52120" y="3645023"/>
            <a:ext cx="3384376" cy="312596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3446352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en-US" altLang="zh-TW" b="1" dirty="0"/>
              <a:t>DTMF Decode Function: </a:t>
            </a:r>
            <a:r>
              <a:rPr lang="en-US" altLang="zh-TW" b="1" dirty="0" err="1"/>
              <a:t>dtmfrun.m</a:t>
            </a:r>
            <a:endParaRPr lang="zh-TW" altLang="en-US"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528" y="1556792"/>
            <a:ext cx="8454405" cy="417297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圓角矩形 3"/>
          <p:cNvSpPr/>
          <p:nvPr/>
        </p:nvSpPr>
        <p:spPr>
          <a:xfrm>
            <a:off x="323528" y="3643277"/>
            <a:ext cx="4032448" cy="217771"/>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23589196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en-US" altLang="zh-TW" b="1" dirty="0"/>
              <a:t>Simple Bandpass Filter Design : </a:t>
            </a:r>
            <a:r>
              <a:rPr lang="en-US" altLang="zh-TW" b="1" dirty="0" err="1"/>
              <a:t>dtmfdesign.m</a:t>
            </a:r>
            <a:endParaRPr lang="zh-TW" altLang="en-US" b="1" dirty="0"/>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83768" y="1700808"/>
            <a:ext cx="4274517" cy="64807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09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0284" y="2420888"/>
            <a:ext cx="8755682" cy="3962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2316449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en-US" altLang="zh-TW" b="1" dirty="0"/>
              <a:t>DTMF Decode Function: </a:t>
            </a:r>
            <a:r>
              <a:rPr lang="en-US" altLang="zh-TW" b="1" dirty="0" err="1"/>
              <a:t>dtmfrun.m</a:t>
            </a:r>
            <a:endParaRPr lang="zh-TW" altLang="en-US"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528" y="1556792"/>
            <a:ext cx="8454405" cy="417297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圓角矩形 3"/>
          <p:cNvSpPr/>
          <p:nvPr/>
        </p:nvSpPr>
        <p:spPr>
          <a:xfrm>
            <a:off x="395536" y="4504962"/>
            <a:ext cx="3473232" cy="220182"/>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9370866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b="1" dirty="0"/>
              <a:t>A Scoring Function: </a:t>
            </a:r>
            <a:r>
              <a:rPr lang="en-US" altLang="zh-TW" b="1" dirty="0" err="1"/>
              <a:t>dtmfscore.m</a:t>
            </a:r>
            <a:endParaRPr lang="zh-TW" altLang="en-US" dirty="0"/>
          </a:p>
        </p:txBody>
      </p:sp>
      <p:pic>
        <p:nvPicPr>
          <p:cNvPr id="5122"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67544" y="2060848"/>
            <a:ext cx="8229600" cy="328691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8197820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en-US" altLang="zh-TW" b="1" dirty="0"/>
              <a:t>DTMF Decode Function: </a:t>
            </a:r>
            <a:r>
              <a:rPr lang="en-US" altLang="zh-TW" b="1" dirty="0" err="1"/>
              <a:t>dtmfrun.m</a:t>
            </a:r>
            <a:endParaRPr lang="zh-TW" altLang="en-US"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528" y="1556792"/>
            <a:ext cx="8454405" cy="417297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圓角矩形 3"/>
          <p:cNvSpPr/>
          <p:nvPr/>
        </p:nvSpPr>
        <p:spPr>
          <a:xfrm>
            <a:off x="419280" y="5301208"/>
            <a:ext cx="3473232" cy="220182"/>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13" name="群組 12"/>
          <p:cNvGrpSpPr/>
          <p:nvPr/>
        </p:nvGrpSpPr>
        <p:grpSpPr>
          <a:xfrm>
            <a:off x="2555776" y="5533637"/>
            <a:ext cx="3004419" cy="808848"/>
            <a:chOff x="2555776" y="5533637"/>
            <a:chExt cx="3004419" cy="808848"/>
          </a:xfrm>
        </p:grpSpPr>
        <p:cxnSp>
          <p:nvCxnSpPr>
            <p:cNvPr id="7" name="肘形接點 6"/>
            <p:cNvCxnSpPr/>
            <p:nvPr/>
          </p:nvCxnSpPr>
          <p:spPr>
            <a:xfrm rot="10800000">
              <a:off x="2555776" y="5533637"/>
              <a:ext cx="1605445" cy="624181"/>
            </a:xfrm>
            <a:prstGeom prst="bentConnector2">
              <a:avLst/>
            </a:prstGeom>
            <a:ln w="79375">
              <a:solidFill>
                <a:srgbClr val="FF0000"/>
              </a:solidFill>
              <a:tailEnd type="arrow" w="lg" len="lg"/>
            </a:ln>
          </p:spPr>
          <p:style>
            <a:lnRef idx="1">
              <a:schemeClr val="accent1"/>
            </a:lnRef>
            <a:fillRef idx="0">
              <a:schemeClr val="accent1"/>
            </a:fillRef>
            <a:effectRef idx="0">
              <a:schemeClr val="accent1"/>
            </a:effectRef>
            <a:fontRef idx="minor">
              <a:schemeClr val="tx1"/>
            </a:fontRef>
          </p:style>
        </p:cxnSp>
        <p:sp>
          <p:nvSpPr>
            <p:cNvPr id="12" name="矩形 11"/>
            <p:cNvSpPr/>
            <p:nvPr/>
          </p:nvSpPr>
          <p:spPr>
            <a:xfrm>
              <a:off x="4161222" y="5973153"/>
              <a:ext cx="1398973" cy="369332"/>
            </a:xfrm>
            <a:prstGeom prst="rect">
              <a:avLst/>
            </a:prstGeom>
          </p:spPr>
          <p:txBody>
            <a:bodyPr wrap="none">
              <a:spAutoFit/>
            </a:bodyPr>
            <a:lstStyle/>
            <a:p>
              <a:r>
                <a:rPr lang="en-US" altLang="zh-TW" b="1" dirty="0" err="1"/>
                <a:t>dtmfscore.m</a:t>
              </a:r>
              <a:endParaRPr lang="zh-TW" altLang="en-US" dirty="0"/>
            </a:p>
          </p:txBody>
        </p:sp>
      </p:grpSp>
    </p:spTree>
    <p:extLst>
      <p:ext uri="{BB962C8B-B14F-4D97-AF65-F5344CB8AC3E}">
        <p14:creationId xmlns:p14="http://schemas.microsoft.com/office/powerpoint/2010/main" val="11130786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字方塊 3"/>
          <p:cNvSpPr txBox="1"/>
          <p:nvPr/>
        </p:nvSpPr>
        <p:spPr>
          <a:xfrm>
            <a:off x="251520" y="332656"/>
            <a:ext cx="8352928" cy="5970865"/>
          </a:xfrm>
          <a:prstGeom prst="rect">
            <a:avLst/>
          </a:prstGeom>
          <a:noFill/>
        </p:spPr>
        <p:txBody>
          <a:bodyPr wrap="square" rtlCol="0">
            <a:spAutoFit/>
          </a:bodyPr>
          <a:lstStyle/>
          <a:p>
            <a:r>
              <a:rPr lang="zh-TW" altLang="en-US" sz="3200" b="1" dirty="0">
                <a:latin typeface="標楷體" pitchFamily="65" charset="-120"/>
                <a:ea typeface="標楷體" pitchFamily="65" charset="-120"/>
              </a:rPr>
              <a:t>期末報告</a:t>
            </a:r>
            <a:endParaRPr lang="en-US" altLang="zh-TW" sz="3200" b="1" dirty="0">
              <a:latin typeface="標楷體" pitchFamily="65" charset="-120"/>
              <a:ea typeface="標楷體" pitchFamily="65" charset="-120"/>
            </a:endParaRPr>
          </a:p>
          <a:p>
            <a:endParaRPr lang="en-US" altLang="zh-TW" sz="3200" b="1" dirty="0">
              <a:latin typeface="標楷體" pitchFamily="65" charset="-120"/>
              <a:ea typeface="標楷體" pitchFamily="65" charset="-120"/>
            </a:endParaRPr>
          </a:p>
          <a:p>
            <a:r>
              <a:rPr lang="zh-TW" altLang="en-US" sz="2400" b="1" dirty="0">
                <a:latin typeface="標楷體" pitchFamily="65" charset="-120"/>
                <a:ea typeface="標楷體" pitchFamily="65" charset="-120"/>
              </a:rPr>
              <a:t>分組</a:t>
            </a:r>
            <a:endParaRPr lang="en-US" altLang="zh-TW" sz="2400" b="1" dirty="0">
              <a:latin typeface="標楷體" pitchFamily="65" charset="-120"/>
              <a:ea typeface="標楷體" pitchFamily="65" charset="-120"/>
            </a:endParaRPr>
          </a:p>
          <a:p>
            <a:r>
              <a:rPr lang="en-US" altLang="zh-TW" dirty="0">
                <a:latin typeface="標楷體" pitchFamily="65" charset="-120"/>
                <a:ea typeface="標楷體" pitchFamily="65" charset="-120"/>
              </a:rPr>
              <a:t>5</a:t>
            </a:r>
            <a:r>
              <a:rPr lang="zh-TW" altLang="en-US" dirty="0">
                <a:latin typeface="標楷體" pitchFamily="65" charset="-120"/>
                <a:ea typeface="標楷體" pitchFamily="65" charset="-120"/>
              </a:rPr>
              <a:t>人一組</a:t>
            </a:r>
            <a:endParaRPr lang="en-US" altLang="zh-TW" dirty="0">
              <a:latin typeface="標楷體" pitchFamily="65" charset="-120"/>
              <a:ea typeface="標楷體" pitchFamily="65" charset="-120"/>
            </a:endParaRPr>
          </a:p>
          <a:p>
            <a:endParaRPr lang="en-US" altLang="zh-TW" dirty="0">
              <a:latin typeface="標楷體" pitchFamily="65" charset="-120"/>
              <a:ea typeface="標楷體" pitchFamily="65" charset="-120"/>
            </a:endParaRPr>
          </a:p>
          <a:p>
            <a:r>
              <a:rPr lang="zh-TW" altLang="en-US" sz="2400" b="1" dirty="0">
                <a:latin typeface="標楷體" pitchFamily="65" charset="-120"/>
                <a:ea typeface="標楷體" pitchFamily="65" charset="-120"/>
              </a:rPr>
              <a:t>口頭報告</a:t>
            </a:r>
            <a:r>
              <a:rPr lang="en-US" altLang="zh-TW" sz="2400" b="1" dirty="0">
                <a:latin typeface="標楷體" pitchFamily="65" charset="-120"/>
                <a:ea typeface="標楷體" pitchFamily="65" charset="-120"/>
              </a:rPr>
              <a:t>(</a:t>
            </a:r>
            <a:r>
              <a:rPr lang="zh-TW" altLang="en-US" sz="2400" b="1" dirty="0">
                <a:latin typeface="標楷體" pitchFamily="65" charset="-120"/>
                <a:ea typeface="標楷體" pitchFamily="65" charset="-120"/>
              </a:rPr>
              <a:t>需繳交</a:t>
            </a:r>
            <a:r>
              <a:rPr lang="en-US" altLang="zh-TW" sz="2400" b="1" dirty="0" err="1">
                <a:latin typeface="標楷體" pitchFamily="65" charset="-120"/>
                <a:ea typeface="標楷體" pitchFamily="65" charset="-120"/>
              </a:rPr>
              <a:t>ppt</a:t>
            </a:r>
            <a:r>
              <a:rPr lang="zh-TW" altLang="en-US" sz="2400" b="1" dirty="0">
                <a:latin typeface="標楷體" pitchFamily="65" charset="-120"/>
                <a:ea typeface="標楷體" pitchFamily="65" charset="-120"/>
              </a:rPr>
              <a:t>檔</a:t>
            </a:r>
            <a:r>
              <a:rPr lang="en-US" altLang="zh-TW" sz="2400" b="1" dirty="0">
                <a:latin typeface="標楷體" pitchFamily="65" charset="-120"/>
                <a:ea typeface="標楷體" pitchFamily="65" charset="-120"/>
              </a:rPr>
              <a:t>)</a:t>
            </a:r>
          </a:p>
          <a:p>
            <a:r>
              <a:rPr lang="zh-TW" altLang="en-US" dirty="0">
                <a:latin typeface="標楷體" pitchFamily="65" charset="-120"/>
                <a:ea typeface="標楷體" pitchFamily="65" charset="-120"/>
              </a:rPr>
              <a:t>每組準備一份</a:t>
            </a:r>
            <a:r>
              <a:rPr lang="en-US" altLang="zh-TW" dirty="0" err="1">
                <a:latin typeface="標楷體" pitchFamily="65" charset="-120"/>
                <a:ea typeface="標楷體" pitchFamily="65" charset="-120"/>
              </a:rPr>
              <a:t>ppt</a:t>
            </a:r>
            <a:r>
              <a:rPr lang="zh-TW" altLang="en-US" dirty="0">
                <a:latin typeface="標楷體" pitchFamily="65" charset="-120"/>
                <a:ea typeface="標楷體" pitchFamily="65" charset="-120"/>
              </a:rPr>
              <a:t>簡報，所有人輪流上台報告與回答問題</a:t>
            </a:r>
            <a:endParaRPr lang="en-US" altLang="zh-TW" dirty="0">
              <a:latin typeface="標楷體" pitchFamily="65" charset="-120"/>
              <a:ea typeface="標楷體" pitchFamily="65" charset="-120"/>
            </a:endParaRPr>
          </a:p>
          <a:p>
            <a:pPr marL="342900" indent="-342900">
              <a:buFont typeface="+mj-lt"/>
              <a:buAutoNum type="arabicPeriod"/>
            </a:pPr>
            <a:r>
              <a:rPr lang="zh-TW" altLang="en-US" dirty="0">
                <a:latin typeface="標楷體" pitchFamily="65" charset="-120"/>
                <a:ea typeface="標楷體" pitchFamily="65" charset="-120"/>
              </a:rPr>
              <a:t>報告中詳細列出每個人的負責項目與貢獻度</a:t>
            </a:r>
            <a:endParaRPr lang="en-US" altLang="zh-TW" dirty="0">
              <a:latin typeface="標楷體" pitchFamily="65" charset="-120"/>
              <a:ea typeface="標楷體" pitchFamily="65" charset="-120"/>
            </a:endParaRPr>
          </a:p>
          <a:p>
            <a:pPr marL="342900" indent="-342900">
              <a:buFont typeface="+mj-lt"/>
              <a:buAutoNum type="arabicPeriod"/>
            </a:pPr>
            <a:r>
              <a:rPr lang="zh-TW" altLang="en-US" dirty="0">
                <a:latin typeface="標楷體" pitchFamily="65" charset="-120"/>
                <a:ea typeface="標楷體" pitchFamily="65" charset="-120"/>
              </a:rPr>
              <a:t>充分展現團隊合作，所有人對報告內容都要清楚了解</a:t>
            </a:r>
            <a:endParaRPr lang="en-US" altLang="zh-TW" dirty="0">
              <a:latin typeface="標楷體" pitchFamily="65" charset="-120"/>
              <a:ea typeface="標楷體" pitchFamily="65" charset="-120"/>
            </a:endParaRPr>
          </a:p>
          <a:p>
            <a:pPr marL="342900" indent="-342900">
              <a:buFont typeface="+mj-lt"/>
              <a:buAutoNum type="arabicPeriod"/>
            </a:pPr>
            <a:r>
              <a:rPr lang="zh-TW" altLang="en-US" dirty="0">
                <a:latin typeface="標楷體" pitchFamily="65" charset="-120"/>
                <a:ea typeface="標楷體" pitchFamily="65" charset="-120"/>
              </a:rPr>
              <a:t>報告需要包括以下章節</a:t>
            </a:r>
            <a:endParaRPr lang="en-US" altLang="zh-TW" dirty="0">
              <a:latin typeface="標楷體" pitchFamily="65" charset="-120"/>
              <a:ea typeface="標楷體" pitchFamily="65" charset="-120"/>
            </a:endParaRPr>
          </a:p>
          <a:p>
            <a:pPr marL="342900" indent="-342900">
              <a:buFont typeface="Wingdings" pitchFamily="2" charset="2"/>
              <a:buAutoNum type="circleNumWdWhitePlain"/>
            </a:pPr>
            <a:r>
              <a:rPr lang="zh-TW" altLang="en-US" dirty="0">
                <a:latin typeface="標楷體" pitchFamily="65" charset="-120"/>
                <a:ea typeface="標楷體" pitchFamily="65" charset="-120"/>
              </a:rPr>
              <a:t>介紹</a:t>
            </a:r>
            <a:endParaRPr lang="en-US" altLang="zh-TW" dirty="0">
              <a:latin typeface="標楷體" pitchFamily="65" charset="-120"/>
              <a:ea typeface="標楷體" pitchFamily="65" charset="-120"/>
            </a:endParaRPr>
          </a:p>
          <a:p>
            <a:pPr marL="342900" indent="-342900">
              <a:buFont typeface="Wingdings" pitchFamily="2" charset="2"/>
              <a:buAutoNum type="circleNumWdWhitePlain"/>
            </a:pPr>
            <a:r>
              <a:rPr lang="zh-TW" altLang="en-US" dirty="0">
                <a:latin typeface="標楷體" pitchFamily="65" charset="-120"/>
                <a:ea typeface="標楷體" pitchFamily="65" charset="-120"/>
              </a:rPr>
              <a:t>問題描述與分析</a:t>
            </a:r>
            <a:endParaRPr lang="en-US" altLang="zh-TW" dirty="0">
              <a:latin typeface="標楷體" pitchFamily="65" charset="-120"/>
              <a:ea typeface="標楷體" pitchFamily="65" charset="-120"/>
            </a:endParaRPr>
          </a:p>
          <a:p>
            <a:pPr marL="342900" indent="-342900">
              <a:buFont typeface="Wingdings" pitchFamily="2" charset="2"/>
              <a:buAutoNum type="circleNumWdWhitePlain"/>
            </a:pPr>
            <a:r>
              <a:rPr lang="en-US" altLang="zh-TW" dirty="0" err="1">
                <a:latin typeface="標楷體" pitchFamily="65" charset="-120"/>
                <a:ea typeface="標楷體" pitchFamily="65" charset="-120"/>
              </a:rPr>
              <a:t>Matlab</a:t>
            </a:r>
            <a:r>
              <a:rPr lang="zh-TW" altLang="en-US" dirty="0">
                <a:latin typeface="標楷體" pitchFamily="65" charset="-120"/>
                <a:ea typeface="標楷體" pitchFamily="65" charset="-120"/>
              </a:rPr>
              <a:t>程式解說與流程圖</a:t>
            </a:r>
            <a:endParaRPr lang="en-US" altLang="zh-TW" dirty="0">
              <a:latin typeface="標楷體" pitchFamily="65" charset="-120"/>
              <a:ea typeface="標楷體" pitchFamily="65" charset="-120"/>
            </a:endParaRPr>
          </a:p>
          <a:p>
            <a:pPr marL="342900" indent="-342900">
              <a:buFont typeface="Wingdings" pitchFamily="2" charset="2"/>
              <a:buAutoNum type="circleNumWdWhitePlain"/>
            </a:pPr>
            <a:r>
              <a:rPr lang="zh-TW" altLang="en-US" dirty="0">
                <a:latin typeface="標楷體" pitchFamily="65" charset="-120"/>
                <a:ea typeface="標楷體" pitchFamily="65" charset="-120"/>
              </a:rPr>
              <a:t>結果與討論</a:t>
            </a:r>
            <a:endParaRPr lang="en-US" altLang="zh-TW" dirty="0">
              <a:latin typeface="標楷體" pitchFamily="65" charset="-120"/>
              <a:ea typeface="標楷體" pitchFamily="65" charset="-120"/>
            </a:endParaRPr>
          </a:p>
          <a:p>
            <a:pPr marL="342900" indent="-342900">
              <a:buFont typeface="Wingdings" pitchFamily="2" charset="2"/>
              <a:buAutoNum type="circleNumWdWhitePlain"/>
            </a:pPr>
            <a:r>
              <a:rPr lang="zh-TW" altLang="en-US" dirty="0">
                <a:latin typeface="標楷體" pitchFamily="65" charset="-120"/>
                <a:ea typeface="標楷體" pitchFamily="65" charset="-120"/>
              </a:rPr>
              <a:t>每個人的負責項目與貢獻度</a:t>
            </a:r>
            <a:endParaRPr lang="en-US" altLang="zh-TW" dirty="0">
              <a:latin typeface="標楷體" pitchFamily="65" charset="-120"/>
              <a:ea typeface="標楷體" pitchFamily="65" charset="-120"/>
            </a:endParaRPr>
          </a:p>
          <a:p>
            <a:pPr marL="342900" indent="-342900">
              <a:buFont typeface="Wingdings" pitchFamily="2" charset="2"/>
              <a:buAutoNum type="circleNumWdWhitePlain"/>
            </a:pPr>
            <a:r>
              <a:rPr lang="zh-TW" altLang="en-US" dirty="0">
                <a:latin typeface="標楷體" pitchFamily="65" charset="-120"/>
                <a:ea typeface="標楷體" pitchFamily="65" charset="-120"/>
              </a:rPr>
              <a:t>參考文獻</a:t>
            </a:r>
            <a:endParaRPr lang="en-US" altLang="zh-TW" dirty="0">
              <a:latin typeface="標楷體" pitchFamily="65" charset="-120"/>
              <a:ea typeface="標楷體" pitchFamily="65" charset="-120"/>
            </a:endParaRPr>
          </a:p>
          <a:p>
            <a:endParaRPr lang="en-US" altLang="zh-TW" dirty="0">
              <a:latin typeface="標楷體" pitchFamily="65" charset="-120"/>
              <a:ea typeface="標楷體" pitchFamily="65" charset="-120"/>
            </a:endParaRPr>
          </a:p>
          <a:p>
            <a:r>
              <a:rPr lang="zh-TW" altLang="en-US" dirty="0">
                <a:solidFill>
                  <a:srgbClr val="FF0000"/>
                </a:solidFill>
                <a:latin typeface="標楷體" pitchFamily="65" charset="-120"/>
                <a:ea typeface="標楷體" pitchFamily="65" charset="-120"/>
              </a:rPr>
              <a:t>助教驗收程式時間：</a:t>
            </a:r>
            <a:r>
              <a:rPr lang="en-US" altLang="zh-TW" dirty="0">
                <a:solidFill>
                  <a:srgbClr val="FF0000"/>
                </a:solidFill>
                <a:latin typeface="標楷體" pitchFamily="65" charset="-120"/>
                <a:ea typeface="標楷體" pitchFamily="65" charset="-120"/>
              </a:rPr>
              <a:t>12/11</a:t>
            </a:r>
          </a:p>
          <a:p>
            <a:endParaRPr lang="zh-TW" altLang="en-US" dirty="0">
              <a:solidFill>
                <a:srgbClr val="FF0000"/>
              </a:solidFill>
              <a:latin typeface="標楷體" pitchFamily="65" charset="-120"/>
              <a:ea typeface="標楷體" pitchFamily="65" charset="-120"/>
            </a:endParaRPr>
          </a:p>
        </p:txBody>
      </p:sp>
    </p:spTree>
    <p:extLst>
      <p:ext uri="{BB962C8B-B14F-4D97-AF65-F5344CB8AC3E}">
        <p14:creationId xmlns:p14="http://schemas.microsoft.com/office/powerpoint/2010/main" val="3839996199"/>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305</TotalTime>
  <Words>777</Words>
  <Application>Microsoft Office PowerPoint</Application>
  <PresentationFormat>如螢幕大小 (4:3)</PresentationFormat>
  <Paragraphs>69</Paragraphs>
  <Slides>17</Slides>
  <Notes>6</Notes>
  <HiddenSlides>0</HiddenSlides>
  <MMClips>0</MMClips>
  <ScaleCrop>false</ScaleCrop>
  <HeadingPairs>
    <vt:vector size="6" baseType="variant">
      <vt:variant>
        <vt:lpstr>使用字型</vt:lpstr>
      </vt:variant>
      <vt:variant>
        <vt:i4>5</vt:i4>
      </vt:variant>
      <vt:variant>
        <vt:lpstr>佈景主題</vt:lpstr>
      </vt:variant>
      <vt:variant>
        <vt:i4>1</vt:i4>
      </vt:variant>
      <vt:variant>
        <vt:lpstr>投影片標題</vt:lpstr>
      </vt:variant>
      <vt:variant>
        <vt:i4>17</vt:i4>
      </vt:variant>
    </vt:vector>
  </HeadingPairs>
  <TitlesOfParts>
    <vt:vector size="23" baseType="lpstr">
      <vt:lpstr>標楷體</vt:lpstr>
      <vt:lpstr>Arial</vt:lpstr>
      <vt:lpstr>Calibri</vt:lpstr>
      <vt:lpstr>Times New Roman</vt:lpstr>
      <vt:lpstr>Wingdings</vt:lpstr>
      <vt:lpstr>Office 佈景主題</vt:lpstr>
      <vt:lpstr>Final project: Encoding and Decoding Touch-Tone Signals</vt:lpstr>
      <vt:lpstr>Background: Telephone Touch Tone Dialing</vt:lpstr>
      <vt:lpstr>PowerPoint 簡報</vt:lpstr>
      <vt:lpstr>DTMF Decoding</vt:lpstr>
      <vt:lpstr>DTMF Decoding</vt:lpstr>
      <vt:lpstr>PowerPoint 簡報</vt:lpstr>
      <vt:lpstr>Signal Concatenation</vt:lpstr>
      <vt:lpstr>Encoding from a Table</vt:lpstr>
      <vt:lpstr>Testing the DTMF system</vt:lpstr>
      <vt:lpstr>DTMF Dial Function</vt:lpstr>
      <vt:lpstr>Testing the DTMF system</vt:lpstr>
      <vt:lpstr>DTMF Decode Function: dtmfrun.m</vt:lpstr>
      <vt:lpstr>Simple Bandpass Filter Design : dtmfdesign.m</vt:lpstr>
      <vt:lpstr>DTMF Decode Function: dtmfrun.m</vt:lpstr>
      <vt:lpstr>A Scoring Function: dtmfscore.m</vt:lpstr>
      <vt:lpstr>DTMF Decode Function: dtmfrun.m</vt:lpstr>
      <vt:lpstr>PowerPoint 簡報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Lab3042</dc:creator>
  <cp:lastModifiedBy>李承恩</cp:lastModifiedBy>
  <cp:revision>24</cp:revision>
  <dcterms:created xsi:type="dcterms:W3CDTF">2015-12-04T02:09:49Z</dcterms:created>
  <dcterms:modified xsi:type="dcterms:W3CDTF">2025-11-26T14:57:40Z</dcterms:modified>
</cp:coreProperties>
</file>